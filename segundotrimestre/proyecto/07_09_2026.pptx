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6858000" cx="12192000"/>
  <p:notesSz cx="6858000" cy="9144000"/>
  <p:embeddedFontLst>
    <p:embeddedFont>
      <p:font typeface="Work Sans SemiBold"/>
      <p:regular r:id="rId27"/>
      <p:bold r:id="rId28"/>
      <p:italic r:id="rId29"/>
      <p:boldItalic r:id="rId30"/>
    </p:embeddedFont>
    <p:embeddedFont>
      <p:font typeface="Work Sans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95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187">
          <p15:clr>
            <a:srgbClr val="A4A3A4"/>
          </p15:clr>
        </p15:guide>
        <p15:guide id="4" pos="438">
          <p15:clr>
            <a:srgbClr val="A4A3A4"/>
          </p15:clr>
        </p15:guide>
        <p15:guide id="5" orient="horz" pos="2387">
          <p15:clr>
            <a:srgbClr val="A4A3A4"/>
          </p15:clr>
        </p15:guide>
        <p15:guide id="6" orient="horz" pos="2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79EF038-9532-4911-9525-AEC429A36359}">
  <a:tblStyle styleId="{779EF038-9532-4911-9525-AEC429A3635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95" orient="horz"/>
        <p:guide pos="3840"/>
        <p:guide pos="187" orient="horz"/>
        <p:guide pos="438"/>
        <p:guide pos="2387" orient="horz"/>
        <p:guide pos="284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WorkSansSemiBold-bold.fntdata"/><Relationship Id="rId27" Type="http://schemas.openxmlformats.org/officeDocument/2006/relationships/font" Target="fonts/WorkSansSemiBold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WorkSansSemiBold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WorkSans-regular.fntdata"/><Relationship Id="rId30" Type="http://schemas.openxmlformats.org/officeDocument/2006/relationships/font" Target="fonts/WorkSansSemiBold-boldItalic.fntdata"/><Relationship Id="rId11" Type="http://schemas.openxmlformats.org/officeDocument/2006/relationships/slide" Target="slides/slide5.xml"/><Relationship Id="rId33" Type="http://schemas.openxmlformats.org/officeDocument/2006/relationships/font" Target="fonts/WorkSans-italic.fntdata"/><Relationship Id="rId10" Type="http://schemas.openxmlformats.org/officeDocument/2006/relationships/slide" Target="slides/slide4.xml"/><Relationship Id="rId32" Type="http://schemas.openxmlformats.org/officeDocument/2006/relationships/font" Target="fonts/WorkSans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WorkSans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CO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a5cb7a94d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g3fa5cb7a94d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a5cb7a94d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" name="Google Shape;158;g3fa5cb7a94d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" name="Google Shape;16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3" name="Google Shape;19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9" name="Google Shape;19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5" name="Google Shape;20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EC388"/>
              </a:buClr>
              <a:buSzPts val="2400"/>
              <a:buNone/>
              <a:defRPr sz="2400">
                <a:solidFill>
                  <a:srgbClr val="8EC3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2000"/>
              <a:buNone/>
              <a:defRPr sz="2000">
                <a:solidFill>
                  <a:srgbClr val="8EC3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800"/>
              <a:buNone/>
              <a:defRPr sz="1800">
                <a:solidFill>
                  <a:srgbClr val="8EC3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Relationship Id="rId4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Relationship Id="rId4" Type="http://schemas.openxmlformats.org/officeDocument/2006/relationships/hyperlink" Target="https://docs.google.com/spreadsheets/d/1BYYnQ08f1SwcJUeCAtQjTdWOd-FEHEQ2/edit?gid=1835556730#gid=1835556730" TargetMode="External"/><Relationship Id="rId5" Type="http://schemas.openxmlformats.org/officeDocument/2006/relationships/hyperlink" Target="https://docs.google.com/document/d/14IOr7nPCzqcf53rKbWjqaif2eCSptRdUIh7B11lagfc/edit?usp=sharing" TargetMode="External"/><Relationship Id="rId6" Type="http://schemas.openxmlformats.org/officeDocument/2006/relationships/hyperlink" Target="https://docs.google.com/document/d/1FIxgmfF54Zi_xm7QoR7utaCidiRaZK7IZcpBN7uBuI8/edit?usp=sharing" TargetMode="External"/><Relationship Id="rId7" Type="http://schemas.openxmlformats.org/officeDocument/2006/relationships/hyperlink" Target="https://github.com/PepewowPython/Practica-Final-1-/blob/main/database/DICCIONARIO_BASE_DE_DATOS.md" TargetMode="External"/><Relationship Id="rId8" Type="http://schemas.openxmlformats.org/officeDocument/2006/relationships/hyperlink" Target="https://docs.google.com/document/d/1bIFhZ2r4etHuvOM5Fcy9xjY2eACH1T98_nCUx1cLKak/edit?usp=sharing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/>
        </p:nvSpPr>
        <p:spPr>
          <a:xfrm>
            <a:off x="963675" y="2551750"/>
            <a:ext cx="8780100" cy="16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Arial"/>
              <a:buNone/>
            </a:pPr>
            <a:r>
              <a:rPr b="1" i="0" lang="es-CO" sz="31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Título del proyecto:</a:t>
            </a:r>
            <a:r>
              <a:rPr b="0" i="0" lang="es-CO" sz="31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s-CO" sz="31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RUTAS INSEGURAS</a:t>
            </a:r>
            <a:endParaRPr sz="3100">
              <a:solidFill>
                <a:schemeClr val="accent5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lnSpc>
                <a:spcPct val="115000"/>
              </a:lnSpc>
              <a:spcBef>
                <a:spcPts val="500"/>
              </a:spcBef>
              <a:spcAft>
                <a:spcPts val="1600"/>
              </a:spcAft>
              <a:buClr>
                <a:schemeClr val="accent5"/>
              </a:buClr>
              <a:buSzPts val="1100"/>
              <a:buFont typeface="Arial"/>
              <a:buNone/>
            </a:pPr>
            <a:r>
              <a:rPr i="1" lang="es-CO" sz="31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Plataforma de Movilidad Segura Urbana — Medellín,Colombia</a:t>
            </a:r>
            <a:endParaRPr sz="3100">
              <a:solidFill>
                <a:schemeClr val="accent5"/>
              </a:solidFill>
            </a:endParaRPr>
          </a:p>
        </p:txBody>
      </p:sp>
      <p:pic>
        <p:nvPicPr>
          <p:cNvPr id="94" name="Google Shape;94;p14"/>
          <p:cNvPicPr preferRelativeResize="0"/>
          <p:nvPr/>
        </p:nvPicPr>
        <p:blipFill rotWithShape="1">
          <a:blip r:embed="rId4">
            <a:alphaModFix/>
          </a:blip>
          <a:srcRect b="22927" l="24976" r="24976" t="22927"/>
          <a:stretch/>
        </p:blipFill>
        <p:spPr>
          <a:xfrm>
            <a:off x="10491597" y="296838"/>
            <a:ext cx="923111" cy="9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391886" y="296862"/>
            <a:ext cx="2828392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O" sz="1000" u="none" cap="none" strike="noStrike">
                <a:solidFill>
                  <a:srgbClr val="4D4D4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Clasificación de la información: Pública</a:t>
            </a:r>
            <a:endParaRPr b="1" i="0" sz="1000" u="none" cap="none" strike="noStrike">
              <a:solidFill>
                <a:srgbClr val="4D4D4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pic>
        <p:nvPicPr>
          <p:cNvPr id="96" name="Google Shape;9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852475" y="4211338"/>
            <a:ext cx="2562225" cy="157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/>
        </p:nvSpPr>
        <p:spPr>
          <a:xfrm>
            <a:off x="431100" y="734700"/>
            <a:ext cx="10753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s-CO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TABLA DE CONTENIDO</a:t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308575" y="1173875"/>
            <a:ext cx="113298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Contexto.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Justificación.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Antecedentes.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Árbol del problema.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Objetivos.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Resultados.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Alcances. 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Matriz de requisitos.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Mapa de navegación.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conceptual (ER). 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lógico o modelo relacional (MER).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BPMN - Citaciones. 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BPMN - Diccionario de riesgo. 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Matriz DOFA.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Instrumentos.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b="1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Matriz de requerimientos.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b="1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Casos de uso.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b="1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Historias de usuario (Documento).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b="1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Diccionario de datos.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b="1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Mockups.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/>
        </p:nvSpPr>
        <p:spPr>
          <a:xfrm>
            <a:off x="3638100" y="114175"/>
            <a:ext cx="49158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rPr b="1" i="0" lang="es-CO" sz="7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Contexto </a:t>
            </a:r>
            <a:endParaRPr b="1" i="0" sz="7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108" name="Google Shape;108;p16" title="ChatGPT Image 7 sept 2026, 07_06_06 p.m..png"/>
          <p:cNvPicPr preferRelativeResize="0"/>
          <p:nvPr/>
        </p:nvPicPr>
        <p:blipFill rotWithShape="1">
          <a:blip r:embed="rId4">
            <a:alphaModFix/>
          </a:blip>
          <a:srcRect b="0" l="1172" r="1172" t="0"/>
          <a:stretch/>
        </p:blipFill>
        <p:spPr>
          <a:xfrm>
            <a:off x="735863" y="1267575"/>
            <a:ext cx="10720274" cy="504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/>
        </p:nvSpPr>
        <p:spPr>
          <a:xfrm>
            <a:off x="2363075" y="111425"/>
            <a:ext cx="70713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rPr b="1" i="0" lang="es-CO" sz="7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Justificación </a:t>
            </a:r>
            <a:endParaRPr b="1" i="0" sz="7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114" name="Google Shape;114;p17" title="ChatGPT Image 7 sept 2026, 07_08_17 p.m.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7638" y="1123962"/>
            <a:ext cx="10576723" cy="5123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/>
        </p:nvSpPr>
        <p:spPr>
          <a:xfrm>
            <a:off x="967650" y="511975"/>
            <a:ext cx="4480500" cy="6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Antecedentes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" name="Google Shape;120;p18" title="ChatGPT Image 7 sept 2026, 07_13_39 p.m.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5325" y="1127275"/>
            <a:ext cx="10563702" cy="542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93988" y="-21650"/>
            <a:ext cx="5604025" cy="690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/>
          <p:nvPr/>
        </p:nvSpPr>
        <p:spPr>
          <a:xfrm>
            <a:off x="967650" y="511976"/>
            <a:ext cx="24132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Objetivos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0"/>
          <p:cNvSpPr txBox="1"/>
          <p:nvPr/>
        </p:nvSpPr>
        <p:spPr>
          <a:xfrm>
            <a:off x="458425" y="1336700"/>
            <a:ext cx="5298300" cy="69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CO" sz="16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Objetivo general: </a:t>
            </a:r>
            <a:r>
              <a:rPr lang="es-CO" sz="15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Desarrollar e implementar la solución tecnológica web y móvil denominada 'Rutas Inseguras' para la ciudad de Medellín, mediante la integración de algoritmos de ruteo inteligente, geolocalización en tiempo real, mapas interactivos de riesgo y un sistema colaborativo de reportes ciudadanos, garantizando la priorización de la seguridad en el tránsito urbano.</a:t>
            </a:r>
            <a:endParaRPr sz="15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500">
              <a:solidFill>
                <a:schemeClr val="accent5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s-CO" sz="17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Objetivos específicos</a:t>
            </a:r>
            <a:endParaRPr b="1" i="0" sz="17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oto Sans Symbols"/>
              <a:buChar char="●"/>
            </a:pPr>
            <a:r>
              <a:rPr b="1" lang="es-CO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Diseñar e implementar el módulo de usuarios y roles</a:t>
            </a:r>
            <a:r>
              <a:rPr lang="es-CO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 con esquemas de autenticación seguros (JWT) y control de acceso basado en roles (Usuario, Moderador, Administrador, Analista).</a:t>
            </a:r>
            <a:endParaRPr>
              <a:solidFill>
                <a:schemeClr val="accent5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oto Sans Symbols"/>
              <a:buChar char="●"/>
            </a:pPr>
            <a:r>
              <a:rPr b="1" lang="es-CO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Desarrollar el motor de cómputo de rutas seguras</a:t>
            </a:r>
            <a:r>
              <a:rPr lang="es-CO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 utilizando el algoritmo Haversine con ponderación dinámica de nivel de riesgo según horario e historial de incidentes.</a:t>
            </a:r>
            <a:endParaRPr>
              <a:solidFill>
                <a:schemeClr val="accent5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oto Sans Symbols"/>
              <a:buChar char="●"/>
            </a:pPr>
            <a:r>
              <a:rPr b="1" lang="es-CO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Implementar un módulo colaborativo de reporte ciudadano</a:t>
            </a:r>
            <a:r>
              <a:rPr lang="es-CO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 que incluya georeferenciación, categorización y un flujo de moderación de contenido para evitar falsas alarmas.</a:t>
            </a:r>
            <a:endParaRPr>
              <a:solidFill>
                <a:schemeClr val="accent5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oto Sans Symbols"/>
              <a:buChar char="●"/>
            </a:pPr>
            <a:r>
              <a:rPr b="1" lang="es-CO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Integrar servicios de mapas interactivos y alertas preventivas SOS</a:t>
            </a:r>
            <a:r>
              <a:rPr lang="es-CO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 para la emisión de notificaciones automáticas al aproximarse a zonas críticas y el envío de ubicación en tiempo real a contactos de emergencia.</a:t>
            </a:r>
            <a:endParaRPr>
              <a:solidFill>
                <a:schemeClr val="accent5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oto Sans Symbols"/>
              <a:buChar char="●"/>
            </a:pPr>
            <a:r>
              <a:rPr b="1" lang="es-CO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Construir la arquitectura de base de datos relacional (MariaDB)</a:t>
            </a:r>
            <a:r>
              <a:rPr lang="es-CO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 normalizada en 3FN y equipada con disparadores de auditoría para garantizar la integridad y trazabilidad de los datos.</a:t>
            </a:r>
            <a:endParaRPr>
              <a:solidFill>
                <a:schemeClr val="accent5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500">
              <a:solidFill>
                <a:schemeClr val="accent5"/>
              </a:solidFill>
            </a:endParaRPr>
          </a:p>
        </p:txBody>
      </p:sp>
      <p:pic>
        <p:nvPicPr>
          <p:cNvPr id="132" name="Google Shape;13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51350" y="1014413"/>
            <a:ext cx="5743575" cy="482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/>
        </p:nvSpPr>
        <p:spPr>
          <a:xfrm>
            <a:off x="435375" y="198050"/>
            <a:ext cx="3279600" cy="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Resultados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21" title="ChatGPT Image 7 sept 2026, 07_18_18 p.m.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6450" y="708350"/>
            <a:ext cx="10511800" cy="5771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/>
          <p:nvPr/>
        </p:nvSpPr>
        <p:spPr>
          <a:xfrm>
            <a:off x="4540348" y="486228"/>
            <a:ext cx="2380800" cy="5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Alcances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144;p22" title="ChatGPT Image 7 sept 2026, 07_42_17 p.m.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6675" y="1017825"/>
            <a:ext cx="9776148" cy="5836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/>
          <p:nvPr/>
        </p:nvSpPr>
        <p:spPr>
          <a:xfrm>
            <a:off x="596275" y="296875"/>
            <a:ext cx="53241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4D4D4C"/>
                </a:solidFill>
                <a:latin typeface="Work Sans"/>
                <a:ea typeface="Work Sans"/>
                <a:cs typeface="Work Sans"/>
                <a:sym typeface="Work Sans"/>
              </a:rPr>
              <a:t>Matriz de requisitos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0" name="Google Shape;150;p23"/>
          <p:cNvGraphicFramePr/>
          <p:nvPr/>
        </p:nvGraphicFramePr>
        <p:xfrm>
          <a:off x="517025" y="944575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{779EF038-9532-4911-9525-AEC429A36359}</a:tableStyleId>
              </a:tblPr>
              <a:tblGrid>
                <a:gridCol w="3653725"/>
                <a:gridCol w="3653725"/>
                <a:gridCol w="3653725"/>
              </a:tblGrid>
              <a:tr h="3167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s-CO" sz="1450">
                          <a:solidFill>
                            <a:srgbClr val="FFFFFF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Código</a:t>
                      </a:r>
                      <a:endParaRPr sz="1600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0" marB="0" marR="73025" marL="73025">
                    <a:solidFill>
                      <a:srgbClr val="072F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s-CO" sz="1450">
                          <a:solidFill>
                            <a:srgbClr val="FFFFFF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Nombre del Requerimiento</a:t>
                      </a:r>
                      <a:endParaRPr sz="1600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0" marB="0" marR="73025" marL="73025">
                    <a:solidFill>
                      <a:srgbClr val="072F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s-CO" sz="1450">
                          <a:solidFill>
                            <a:srgbClr val="FFFFFF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Descripción Funcional Detallada</a:t>
                      </a:r>
                      <a:endParaRPr sz="1600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0" marB="0" marR="73025" marL="73025">
                    <a:solidFill>
                      <a:srgbClr val="072F71"/>
                    </a:solidFill>
                  </a:tcPr>
                </a:tc>
              </a:tr>
              <a:tr h="1144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s-CO"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RF-01</a:t>
                      </a:r>
                      <a:endParaRPr sz="1600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0" marB="0" marR="73025" marL="73025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s-CO"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Gestión de Usuarios</a:t>
                      </a:r>
                      <a:endParaRPr sz="1600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0" marB="0" marR="73025" marL="73025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s-CO"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El sistema debe permitir el registro de usuarios con nombre, correo electrónico y contraseña encriptada (bcrypt), además del inicio de sesión seguro con JWT.</a:t>
                      </a:r>
                      <a:endParaRPr sz="1600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0" marB="0" marR="73025" marL="73025">
                    <a:solidFill>
                      <a:srgbClr val="F0F4F8"/>
                    </a:solidFill>
                  </a:tcPr>
                </a:tc>
              </a:tr>
              <a:tr h="935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s-CO"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RF-02</a:t>
                      </a:r>
                      <a:endParaRPr sz="1600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0" marB="0" marR="73025" marL="730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s-CO"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Gestión de Perfiles</a:t>
                      </a:r>
                      <a:endParaRPr sz="1600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0" marB="0" marR="73025" marL="730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s-CO"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El sistema debe permitir la actualización de datos personales, foto de perfil y roles (Usuario, Moderador, Administrador).</a:t>
                      </a:r>
                      <a:endParaRPr sz="1600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0" marB="0" marR="73025" marL="73025">
                    <a:solidFill>
                      <a:srgbClr val="FFFFFF"/>
                    </a:solidFill>
                  </a:tcPr>
                </a:tc>
              </a:tr>
              <a:tr h="727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s-CO"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RF-03</a:t>
                      </a:r>
                      <a:endParaRPr sz="1600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0" marB="0" marR="73025" marL="73025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s-CO"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Ubicación en Tiempo Real</a:t>
                      </a:r>
                      <a:endParaRPr sz="1600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0" marB="0" marR="73025" marL="73025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s-CO"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El sistema debe obtener y mostrar la posición GPS actual del dispositivo del usuario sobre el mapa interactivo.</a:t>
                      </a:r>
                      <a:endParaRPr sz="1600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0" marB="0" marR="73025" marL="73025">
                    <a:solidFill>
                      <a:srgbClr val="F0F4F8"/>
                    </a:solidFill>
                  </a:tcPr>
                </a:tc>
              </a:tr>
              <a:tr h="1144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s-CO"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RF-04</a:t>
                      </a:r>
                      <a:endParaRPr sz="1600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0" marB="0" marR="73025" marL="730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s-CO"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Cálculo de Rutas Seguras</a:t>
                      </a:r>
                      <a:endParaRPr sz="1600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0" marB="0" marR="73025" marL="730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s-CO"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El sistema debe calcular la ruta óptima ponderando la seguridad por encima de la distancia mediante el algoritmo Haversine e índices de riesgo.</a:t>
                      </a:r>
                      <a:endParaRPr sz="1600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0" marB="0" marR="73025" marL="73025">
                    <a:solidFill>
                      <a:srgbClr val="FFFFFF"/>
                    </a:solidFill>
                  </a:tcPr>
                </a:tc>
              </a:tr>
              <a:tr h="727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s-CO"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RF-05</a:t>
                      </a:r>
                      <a:endParaRPr sz="1600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0" marB="0" marR="73025" marL="73025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s-CO"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Rutas Alternativas</a:t>
                      </a:r>
                      <a:endParaRPr sz="1600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0" marB="0" marR="73025" marL="73025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s-CO"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El sistema debe presentar al menos una ruta alternativa con menor nivel de exposición a zonas delictivas.</a:t>
                      </a:r>
                      <a:endParaRPr sz="1600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0" marB="0" marR="73025" marL="73025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5" name="Google Shape;155;p24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{779EF038-9532-4911-9525-AEC429A36359}</a:tableStyleId>
              </a:tblPr>
              <a:tblGrid>
                <a:gridCol w="3653750"/>
                <a:gridCol w="3653750"/>
                <a:gridCol w="3653750"/>
              </a:tblGrid>
              <a:tr h="920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s-CO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RF-06</a:t>
                      </a:r>
                      <a:endParaRPr sz="17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73025" marL="730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s-CO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Visualización de Zonas de Riesgo</a:t>
                      </a:r>
                      <a:endParaRPr sz="17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73025" marL="730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s-CO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 sistema debe renderizar capas de calor en el mapa identificando sectores de riesgo Alto, Medio y Bajo.</a:t>
                      </a:r>
                      <a:endParaRPr sz="17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73025" marL="73025">
                    <a:solidFill>
                      <a:srgbClr val="FFFFFF"/>
                    </a:solidFill>
                  </a:tcPr>
                </a:tc>
              </a:tr>
              <a:tr h="920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s-CO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RF-07</a:t>
                      </a:r>
                      <a:endParaRPr sz="17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73025" marL="73025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s-CO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Actualización de Riesgos</a:t>
                      </a:r>
                      <a:endParaRPr sz="17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73025" marL="73025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s-CO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 sistema debe recalcular los valores de riesgo de las zonas según el histórico y los incidentes validados dinámicamente.</a:t>
                      </a:r>
                      <a:endParaRPr sz="17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73025" marL="73025">
                    <a:solidFill>
                      <a:srgbClr val="F0F4F8"/>
                    </a:solidFill>
                  </a:tcPr>
                </a:tc>
              </a:tr>
              <a:tr h="1180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s-CO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RF-08</a:t>
                      </a:r>
                      <a:endParaRPr sz="17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73025" marL="730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s-CO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Registro de Incidentes</a:t>
                      </a:r>
                      <a:endParaRPr sz="17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73025" marL="730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s-CO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 sistema debe permitir a los usuarios reportar incidentes especificando tipo, descripción, ubicación GPS y evidencia opcional.</a:t>
                      </a:r>
                      <a:endParaRPr sz="17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73025" marL="73025">
                    <a:solidFill>
                      <a:srgbClr val="FFFFFF"/>
                    </a:solidFill>
                  </a:tcPr>
                </a:tc>
              </a:tr>
              <a:tr h="920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s-CO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RF-09</a:t>
                      </a:r>
                      <a:endParaRPr sz="17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73025" marL="73025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s-CO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Consulta de Reportes</a:t>
                      </a:r>
                      <a:endParaRPr sz="17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73025" marL="73025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s-CO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 sistema debe listar y filtrar los reportes ciudadanos por cercanía, fecha y estado de validación.</a:t>
                      </a:r>
                      <a:endParaRPr sz="17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73025" marL="73025">
                    <a:solidFill>
                      <a:srgbClr val="F0F4F8"/>
                    </a:solidFill>
                  </a:tcPr>
                </a:tc>
              </a:tr>
              <a:tr h="920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s-CO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RF-10</a:t>
                      </a:r>
                      <a:endParaRPr sz="17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73025" marL="730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s-CO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Alertas Preventivas</a:t>
                      </a:r>
                      <a:endParaRPr sz="17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73025" marL="730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s-CO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 sistema debe emitir alertas sonoras y visuales cuando el usuario se aproxime a un radio de 200m de una zona de alto riesgo.</a:t>
                      </a:r>
                      <a:endParaRPr sz="17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73025" marL="73025">
                    <a:solidFill>
                      <a:srgbClr val="FFFFFF"/>
                    </a:solidFill>
                  </a:tcPr>
                </a:tc>
              </a:tr>
              <a:tr h="920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s-CO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RF-11</a:t>
                      </a:r>
                      <a:endParaRPr sz="17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73025" marL="73025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s-CO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Configuración de Alertas</a:t>
                      </a:r>
                      <a:endParaRPr sz="17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73025" marL="73025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s-CO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 sistema debe permitir personalizar el tipo y la sensibilidad de las notificaciones recibidas.</a:t>
                      </a:r>
                      <a:endParaRPr sz="17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73025" marL="73025">
                    <a:solidFill>
                      <a:srgbClr val="F0F4F8"/>
                    </a:solidFill>
                  </a:tcPr>
                </a:tc>
              </a:tr>
              <a:tr h="920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s-CO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RF-12</a:t>
                      </a:r>
                      <a:endParaRPr sz="17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73025" marL="730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s-CO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Gestión de Contactos</a:t>
                      </a:r>
                      <a:endParaRPr sz="17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73025" marL="730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s-CO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 sistema debe permitir vincular hasta 5 contactos de emergencia con correo y teléfono movil.</a:t>
                      </a:r>
                      <a:endParaRPr sz="17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73025" marL="730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0" name="Google Shape;160;p25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{779EF038-9532-4911-9525-AEC429A36359}</a:tableStyleId>
              </a:tblPr>
              <a:tblGrid>
                <a:gridCol w="3671100"/>
                <a:gridCol w="3671100"/>
                <a:gridCol w="3671100"/>
              </a:tblGrid>
              <a:tr h="1733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s-CO" sz="1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RF-13</a:t>
                      </a:r>
                      <a:endParaRPr sz="19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73025" marL="73025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s-CO" sz="1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Compartir Ubicación</a:t>
                      </a:r>
                      <a:endParaRPr sz="19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73025" marL="73025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s-CO" sz="1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 sistema debe permitir enviar un enlace de seguimiento en tiempo real a los contactos de emergencia seleccionados.</a:t>
                      </a:r>
                      <a:endParaRPr sz="19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73025" marL="73025">
                    <a:solidFill>
                      <a:srgbClr val="F0F4F8"/>
                    </a:solidFill>
                  </a:tcPr>
                </a:tc>
              </a:tr>
              <a:tr h="1733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s-CO" sz="1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RF-14</a:t>
                      </a:r>
                      <a:endParaRPr sz="19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73025" marL="730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s-CO" sz="1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Validación de Reportes</a:t>
                      </a:r>
                      <a:endParaRPr sz="19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73025" marL="730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s-CO" sz="1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 sistema debe proveer a los moderadores una interfaz para aprobar, rechazar o marcar como spam los reportes comunitarios.</a:t>
                      </a:r>
                      <a:endParaRPr sz="19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73025" marL="73025">
                    <a:solidFill>
                      <a:srgbClr val="FFFFFF"/>
                    </a:solidFill>
                  </a:tcPr>
                </a:tc>
              </a:tr>
              <a:tr h="1733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s-CO" sz="1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RF-15</a:t>
                      </a:r>
                      <a:endParaRPr sz="19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73025" marL="73025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s-CO" sz="1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Gestión Administrativa</a:t>
                      </a:r>
                      <a:endParaRPr sz="19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73025" marL="73025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s-CO" sz="1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 sistema debe proporcionar paneles de control para la administración de usuarios, parámetros del algoritmo y auditoría.</a:t>
                      </a:r>
                      <a:endParaRPr sz="19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73025" marL="73025">
                    <a:solidFill>
                      <a:srgbClr val="F0F4F8"/>
                    </a:solidFill>
                  </a:tcPr>
                </a:tc>
              </a:tr>
              <a:tr h="1369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s-CO" sz="1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RF-16</a:t>
                      </a:r>
                      <a:endParaRPr sz="19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73025" marL="730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s-CO" sz="1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Estadísticas e Informes</a:t>
                      </a:r>
                      <a:endParaRPr sz="19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73025" marL="730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s-CO" sz="1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 sistema debe generar estadísticas agregadas y gráficas de incidentes por franja horaria y zona geográfica.</a:t>
                      </a:r>
                      <a:endParaRPr sz="19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0" marB="0" marR="73025" marL="730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"/>
          <p:cNvSpPr txBox="1"/>
          <p:nvPr/>
        </p:nvSpPr>
        <p:spPr>
          <a:xfrm>
            <a:off x="695325" y="416690"/>
            <a:ext cx="10142303" cy="5278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Mapa de navegación.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6" name="Google Shape;166;p26" title="Mapadefluj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409489"/>
            <a:ext cx="11887201" cy="50961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7"/>
          <p:cNvSpPr txBox="1"/>
          <p:nvPr/>
        </p:nvSpPr>
        <p:spPr>
          <a:xfrm>
            <a:off x="695325" y="416690"/>
            <a:ext cx="101424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Modelo conceptual (ER)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2" name="Google Shape;172;p27" title="ChatGPT Image 7 sept 2026, 08_12_24 p.m.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4038" y="1356550"/>
            <a:ext cx="10483926" cy="5608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8"/>
          <p:cNvSpPr txBox="1"/>
          <p:nvPr/>
        </p:nvSpPr>
        <p:spPr>
          <a:xfrm>
            <a:off x="695325" y="416690"/>
            <a:ext cx="101424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Modelo Lógico o modelo relacional (MER)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8" name="Google Shape;178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5762" y="1243925"/>
            <a:ext cx="8838425" cy="528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 txBox="1"/>
          <p:nvPr/>
        </p:nvSpPr>
        <p:spPr>
          <a:xfrm>
            <a:off x="695325" y="416690"/>
            <a:ext cx="101424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BPMN - Citaciones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4" name="Google Shape;184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175" y="-1899725"/>
            <a:ext cx="8379250" cy="1304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0"/>
          <p:cNvSpPr txBox="1"/>
          <p:nvPr/>
        </p:nvSpPr>
        <p:spPr>
          <a:xfrm>
            <a:off x="695325" y="416690"/>
            <a:ext cx="101424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BPMN - Diccionario de riesgo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90" name="Google Shape;190;p30"/>
          <p:cNvGraphicFramePr/>
          <p:nvPr/>
        </p:nvGraphicFramePr>
        <p:xfrm>
          <a:off x="780300" y="1479475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{779EF038-9532-4911-9525-AEC429A36359}</a:tableStyleId>
              </a:tblPr>
              <a:tblGrid>
                <a:gridCol w="2757425"/>
                <a:gridCol w="2757425"/>
                <a:gridCol w="2757425"/>
                <a:gridCol w="2757425"/>
              </a:tblGrid>
              <a:tr h="7169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s-CO" sz="1700">
                          <a:solidFill>
                            <a:srgbClr val="FFFFFF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ID Riesgo</a:t>
                      </a:r>
                      <a:endParaRPr sz="1700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0" marB="0" marR="73025" marL="73025">
                    <a:solidFill>
                      <a:srgbClr val="072F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s-CO" sz="1700">
                          <a:solidFill>
                            <a:srgbClr val="FFFFFF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Descripción del Riesgo Operacional</a:t>
                      </a:r>
                      <a:endParaRPr sz="1700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0" marB="0" marR="73025" marL="73025">
                    <a:solidFill>
                      <a:srgbClr val="072F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s-CO" sz="1700">
                          <a:solidFill>
                            <a:srgbClr val="FFFFFF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Impacto / Probabilidad</a:t>
                      </a:r>
                      <a:endParaRPr sz="1700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0" marB="0" marR="73025" marL="73025">
                    <a:solidFill>
                      <a:srgbClr val="072F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s-CO" sz="1700">
                          <a:solidFill>
                            <a:srgbClr val="FFFFFF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Mecanismo de Mitigación Tecnológica</a:t>
                      </a:r>
                      <a:endParaRPr sz="1700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0" marB="0" marR="73025" marL="73025">
                    <a:solidFill>
                      <a:srgbClr val="072F71"/>
                    </a:solidFill>
                  </a:tcPr>
                </a:tc>
              </a:tr>
              <a:tr h="1134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s-CO"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R-BPMN-01</a:t>
                      </a:r>
                      <a:endParaRPr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0" marB="0" marR="73025" marL="73025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s-CO"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Reportes Falsos o Maliciosos (Spam ciudadano que distorsione el mapa de calor)</a:t>
                      </a:r>
                      <a:endParaRPr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0" marB="0" marR="73025" marL="73025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s-CO"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Alto / Media</a:t>
                      </a:r>
                      <a:endParaRPr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0" marB="0" marR="73025" marL="73025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s-CO"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Flujo de moderación obligatoria por moderador humano y algoritmo de reputación ciudadana.</a:t>
                      </a:r>
                      <a:endParaRPr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0" marB="0" marR="73025" marL="73025">
                    <a:solidFill>
                      <a:srgbClr val="F0F4F8"/>
                    </a:solidFill>
                  </a:tcPr>
                </a:tc>
              </a:tr>
              <a:tr h="1134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s-CO"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R-BPMN-02</a:t>
                      </a:r>
                      <a:endParaRPr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0" marB="0" marR="73025" marL="730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s-CO"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Pérdida de Conexión GPS durante la Navegación (Interrupción del rastreo de ubicación)</a:t>
                      </a:r>
                      <a:endParaRPr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0" marB="0" marR="73025" marL="730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s-CO"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Alto / Alta</a:t>
                      </a:r>
                      <a:endParaRPr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0" marB="0" marR="73025" marL="730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s-CO"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Cálculo local en caché del navegador y reconexión automática con aviso sonoro.</a:t>
                      </a:r>
                      <a:endParaRPr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0" marB="0" marR="73025" marL="73025">
                    <a:solidFill>
                      <a:srgbClr val="FFFFFF"/>
                    </a:solidFill>
                  </a:tcPr>
                </a:tc>
              </a:tr>
              <a:tr h="1134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s-CO"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R-BPMN-03</a:t>
                      </a:r>
                      <a:endParaRPr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0" marB="0" marR="73025" marL="73025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s-CO"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Sobrecarga de Servidor por Peticiones Concurrentes de Rutas</a:t>
                      </a:r>
                      <a:endParaRPr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0" marB="0" marR="73025" marL="73025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s-CO"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Medio / Media</a:t>
                      </a:r>
                      <a:endParaRPr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0" marB="0" marR="73025" marL="73025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s-CO"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Balanceo de carga y capa de almacenamiento en caché Redis para trayectos comunes.</a:t>
                      </a:r>
                      <a:endParaRPr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0" marB="0" marR="73025" marL="73025">
                    <a:solidFill>
                      <a:srgbClr val="F0F4F8"/>
                    </a:solidFill>
                  </a:tcPr>
                </a:tc>
              </a:tr>
              <a:tr h="1134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s-CO"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R-BPMN-04</a:t>
                      </a:r>
                      <a:endParaRPr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0" marB="0" marR="73025" marL="730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s-CO"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Vulnerabilidad en la Privacidad de Ubicación de Usuarios</a:t>
                      </a:r>
                      <a:endParaRPr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0" marB="0" marR="73025" marL="730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s-CO"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Crítico / Baja</a:t>
                      </a:r>
                      <a:endParaRPr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0" marB="0" marR="73025" marL="730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s-CO"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Encriptación de coordenadas en tránsito (HTTPS) y anonimización de datos históricos.</a:t>
                      </a:r>
                      <a:endParaRPr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0" marB="0" marR="73025" marL="730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1"/>
          <p:cNvSpPr txBox="1"/>
          <p:nvPr/>
        </p:nvSpPr>
        <p:spPr>
          <a:xfrm>
            <a:off x="695325" y="416704"/>
            <a:ext cx="101424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DOFA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6" name="Google Shape;196;p31" title="dof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1325" y="1397000"/>
            <a:ext cx="10421800" cy="515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2"/>
          <p:cNvSpPr txBox="1"/>
          <p:nvPr/>
        </p:nvSpPr>
        <p:spPr>
          <a:xfrm>
            <a:off x="695325" y="416690"/>
            <a:ext cx="101424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Instrumentos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32"/>
          <p:cNvSpPr txBox="1"/>
          <p:nvPr/>
        </p:nvSpPr>
        <p:spPr>
          <a:xfrm>
            <a:off x="115700" y="2286200"/>
            <a:ext cx="6353700" cy="28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100" u="sng">
                <a:solidFill>
                  <a:schemeClr val="hlink"/>
                </a:solidFill>
                <a:hlinkClick r:id="rId4"/>
              </a:rPr>
              <a:t>Matriz De Requerimientos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5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●"/>
            </a:pPr>
            <a:r>
              <a:rPr lang="es-CO" sz="3100" u="sng">
                <a:solidFill>
                  <a:schemeClr val="hlink"/>
                </a:solidFill>
                <a:hlinkClick r:id="rId5"/>
              </a:rPr>
              <a:t>Casos de Uso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5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●"/>
            </a:pPr>
            <a:r>
              <a:rPr lang="es-CO" sz="3100" u="sng">
                <a:solidFill>
                  <a:schemeClr val="hlink"/>
                </a:solidFill>
                <a:hlinkClick r:id="rId6"/>
              </a:rPr>
              <a:t>Historias de Usuario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5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●"/>
            </a:pPr>
            <a:r>
              <a:rPr lang="es-CO" sz="3100" u="sng">
                <a:solidFill>
                  <a:schemeClr val="hlink"/>
                </a:solidFill>
                <a:hlinkClick r:id="rId7"/>
              </a:rPr>
              <a:t>Diccionario de Datos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5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●"/>
            </a:pPr>
            <a:r>
              <a:rPr lang="es-CO" sz="3100" u="sng">
                <a:solidFill>
                  <a:schemeClr val="hlink"/>
                </a:solidFill>
                <a:hlinkClick r:id="rId8"/>
              </a:rPr>
              <a:t>Mockups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2013 - Tema de 2022">
  <a:themeElements>
    <a:clrScheme name="Personalizado 1">
      <a:dk1>
        <a:srgbClr val="39A900"/>
      </a:dk1>
      <a:lt1>
        <a:srgbClr val="FFFFFF"/>
      </a:lt1>
      <a:dk2>
        <a:srgbClr val="00304D"/>
      </a:dk2>
      <a:lt2>
        <a:srgbClr val="F6F6F6"/>
      </a:lt2>
      <a:accent1>
        <a:srgbClr val="007832"/>
      </a:accent1>
      <a:accent2>
        <a:srgbClr val="71127A"/>
      </a:accent2>
      <a:accent3>
        <a:srgbClr val="50E5F9"/>
      </a:accent3>
      <a:accent4>
        <a:srgbClr val="FDC300"/>
      </a:accent4>
      <a:accent5>
        <a:srgbClr val="000000"/>
      </a:accent5>
      <a:accent6>
        <a:srgbClr val="70AD47"/>
      </a:accent6>
      <a:hlink>
        <a:srgbClr val="0563C1"/>
      </a:hlink>
      <a:folHlink>
        <a:srgbClr val="71127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